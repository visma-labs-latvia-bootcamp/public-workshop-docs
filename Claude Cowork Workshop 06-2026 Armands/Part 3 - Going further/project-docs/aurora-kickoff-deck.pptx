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</a:defRPr>
            </a:pPr>
            <a:r>
              <a:t>Project Aurora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Payroll UI Refresh - Stakeholder Kickoff</a:t>
            </a:r>
          </a:p>
          <a:p>
            <a:r>
              <a:t>Sponsor: Sofia (Head of Product)  -  17 March 2026</a:t>
            </a:r>
          </a:p>
          <a:p>
            <a:r>
              <a:t>Fictional demo material - Claude Cowork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product is trusted for what it does - but the interface is showing its age.</a:t>
            </a:r>
          </a:p>
          <a:p>
            <a:pPr>
              <a:defRPr sz="1800"/>
            </a:pPr>
            <a:r>
              <a:t>“Looks like software from ten years ago” - a recurring customer verbatim.</a:t>
            </a:r>
          </a:p>
          <a:p>
            <a:pPr>
              <a:defRPr sz="1800"/>
            </a:pPr>
            <a:r>
              <a:t>We're now losing deals on first impression in competitive demos.</a:t>
            </a:r>
          </a:p>
          <a:p>
            <a:pPr>
              <a:defRPr sz="1800"/>
            </a:pPr>
            <a:r>
              <a:t>Partners say onboarding new staff is slow, and support volume is rising.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What customers are telling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Outdated visual design across the product.</a:t>
            </a:r>
          </a:p>
          <a:p>
            <a:pPr>
              <a:defRPr sz="1800"/>
            </a:pPr>
            <a:r>
              <a:t>Poor status visibility - errors missed on the Transaction list.</a:t>
            </a:r>
          </a:p>
          <a:p>
            <a:pPr>
              <a:defRPr sz="1800"/>
            </a:pPr>
            <a:r>
              <a:t>Weak filtering and totals that ignore the filter - a trust issue.</a:t>
            </a:r>
          </a:p>
          <a:p>
            <a:pPr>
              <a:defRPr sz="1800"/>
            </a:pPr>
            <a:r>
              <a:t>Confusing navigation; slow screens with no feedback.</a:t>
            </a:r>
          </a:p>
          <a:p>
            <a:pPr>
              <a:defRPr sz="1800"/>
            </a:pPr>
            <a:r>
              <a:t>Accessibility gaps; no usable mobile experience.</a:t>
            </a:r>
          </a:p>
          <a:p>
            <a:pPr>
              <a:defRPr sz="1800"/>
            </a:pPr>
            <a:r>
              <a:t>Based on ~55 pieces of feedback - see customer-feedback.xlsx.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Our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modern look that reflects the quality of the product.</a:t>
            </a:r>
          </a:p>
          <a:p>
            <a:pPr>
              <a:defRPr sz="1800"/>
            </a:pPr>
            <a:r>
              <a:t>Clear, trustworthy everyday workflows - status, filtering, totals.</a:t>
            </a:r>
          </a:p>
          <a:p>
            <a:pPr>
              <a:defRPr sz="1800"/>
            </a:pPr>
            <a:r>
              <a:t>Consistency - one design system, less relearning.</a:t>
            </a:r>
          </a:p>
          <a:p>
            <a:pPr>
              <a:defRPr sz="1800"/>
            </a:pPr>
            <a:r>
              <a:t>Accessibility to WCAG 2.1 AA.</a:t>
            </a:r>
          </a:p>
          <a:p>
            <a:pPr>
              <a:defRPr sz="1800"/>
            </a:pPr>
            <a:r>
              <a:t>Faster onboarding and a lower support burden.</a:t>
            </a:r>
          </a:p>
          <a:p>
            <a:pPr>
              <a:defRPr sz="1800"/>
            </a:pPr>
            <a:r>
              <a:t>Ship continuously - visible progress, not a big-bang.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Design-system-led - standardise on GAIA (our Angular component library).</a:t>
            </a:r>
          </a:p>
          <a:p>
            <a:pPr>
              <a:defRPr sz="1800"/>
            </a:pPr>
            <a:r>
              <a:t>Source of truth for look &amp; feel: Visma UX (ux.visma.com).</a:t>
            </a:r>
          </a:p>
          <a:p>
            <a:pPr>
              <a:defRPr sz="1800"/>
            </a:pPr>
            <a:r>
              <a:t>Screen by screen, worst-first - ship each as it's done.</a:t>
            </a:r>
          </a:p>
          <a:p>
            <a:pPr>
              <a:defRPr sz="1800"/>
            </a:pPr>
            <a:r>
              <a:t>Evidence-driven - measure before/after at each phase.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The pilot: Transaction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most-used and most-complained-about screen.</a:t>
            </a:r>
          </a:p>
          <a:p>
            <a:pPr>
              <a:defRPr sz="1800"/>
            </a:pPr>
            <a:r>
              <a:t>Proves the patterns, tooling and migration path end to end.</a:t>
            </a:r>
          </a:p>
          <a:p>
            <a:pPr>
              <a:defRPr sz="1800"/>
            </a:pPr>
            <a:r>
              <a:t>Builds on in-flight draft requirements and the Nordvik customer review.</a:t>
            </a:r>
          </a:p>
          <a:p>
            <a:pPr>
              <a:defRPr sz="1800"/>
            </a:pPr>
            <a:r>
              <a:t>Sets the patterns every other screen will copy.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In: rebuild the Transaction list on GAIA; shared UI patterns; the captured needs.</a:t>
            </a:r>
          </a:p>
          <a:p>
            <a:pPr>
              <a:defRPr sz="1800"/>
            </a:pPr>
            <a:r>
              <a:t>Out: a big-bang rewrite of the whole UI.</a:t>
            </a:r>
          </a:p>
          <a:p>
            <a:pPr>
              <a:defRPr sz="1800"/>
            </a:pPr>
            <a:r>
              <a:t>Out: back-end / functional changes beyond what the UI work needs.</a:t>
            </a:r>
          </a:p>
          <a:p>
            <a:pPr>
              <a:defRPr sz="1800"/>
            </a:pPr>
            <a:r>
              <a:t>Out: unrelated new features; non-UI performance is a separate workstream.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10 Mar 2026 - Programme approved (initiation).</a:t>
            </a:r>
          </a:p>
          <a:p>
            <a:pPr>
              <a:defRPr sz="1800"/>
            </a:pPr>
            <a:r>
              <a:t>17 Mar 2026 - Brief circulated for review.</a:t>
            </a:r>
          </a:p>
          <a:p>
            <a:pPr>
              <a:defRPr sz="1800"/>
            </a:pPr>
            <a:r>
              <a:t>Jun 2026 - Draft requirements + Nordvik customer review.</a:t>
            </a:r>
          </a:p>
          <a:p>
            <a:pPr>
              <a:defRPr sz="1800"/>
            </a:pPr>
            <a:r>
              <a:t>After review - Pilot build (Transaction list on GAIA).</a:t>
            </a:r>
          </a:p>
          <a:p>
            <a:pPr>
              <a:defRPr sz="1800"/>
            </a:pPr>
            <a:r>
              <a:t>After pilot - Ship, retrospective, and phase-2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How we'll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Fewer UI-related NPS/CSAT detractors; higher overall score.</a:t>
            </a:r>
          </a:p>
          <a:p>
            <a:pPr>
              <a:defRPr sz="1800"/>
            </a:pPr>
            <a:r>
              <a:t>UI no longer cited as a reason for lost deals.</a:t>
            </a:r>
          </a:p>
          <a:p>
            <a:pPr>
              <a:defRPr sz="1800"/>
            </a:pPr>
            <a:r>
              <a:t>Faster run review; fewer 'how do I...' support tickets.</a:t>
            </a:r>
          </a:p>
          <a:p>
            <a:pPr>
              <a:defRPr sz="1800"/>
            </a:pPr>
            <a:r>
              <a:t>Shorter time-to-competence for new users.</a:t>
            </a:r>
          </a:p>
          <a:p>
            <a:pPr>
              <a:defRPr sz="1800"/>
            </a:pPr>
            <a:r>
              <a:t>Pilot screens meet WCAG 2.1 AA.</a:t>
            </a:r>
          </a:p>
          <a:p>
            <a:pPr>
              <a:defRPr sz="1800"/>
            </a:pPr>
            <a:r>
              <a:t>Percentage of screens migrated to GAIA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Team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Sofia - Sponsor (Head of Product).</a:t>
            </a:r>
          </a:p>
          <a:p>
            <a:pPr>
              <a:defRPr sz="1800"/>
            </a:pPr>
            <a:r>
              <a:t>Marta - Business Analyst (requirements, brief).</a:t>
            </a:r>
          </a:p>
          <a:p>
            <a:pPr>
              <a:defRPr sz="1800"/>
            </a:pPr>
            <a:r>
              <a:t>Jonas - Design Lead (GAIA patterns, prototypes).</a:t>
            </a:r>
          </a:p>
          <a:p>
            <a:pPr>
              <a:defRPr sz="1800"/>
            </a:pPr>
            <a:r>
              <a:t>Erik - Engineering Lead (approach, sizing, delivery).</a:t>
            </a:r>
          </a:p>
          <a:p>
            <a:pPr>
              <a:defRPr sz="1800"/>
            </a:pPr>
            <a:r>
              <a:t>Lena - Customer Success (feedback evidence, measurement).</a:t>
            </a:r>
          </a:p>
          <a:p>
            <a:pPr>
              <a:defRPr sz="1800"/>
            </a:pPr>
            <a:r>
              <a:t>GAIA design-system team - Partner.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2F5496"/>
                </a:solidFill>
              </a:defRPr>
            </a:pPr>
            <a:r>
              <a:t>What we need from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Review the brief and share feedback.</a:t>
            </a:r>
          </a:p>
          <a:p>
            <a:pPr>
              <a:defRPr sz="1800"/>
            </a:pPr>
            <a:r>
              <a:t>Endorse the phased, pilot-first approach.</a:t>
            </a:r>
          </a:p>
          <a:p>
            <a:pPr>
              <a:defRPr sz="1800"/>
            </a:pPr>
            <a:r>
              <a:t>Help prioritise the screens that follow the pilot.</a:t>
            </a:r>
          </a:p>
          <a:p>
            <a:pPr>
              <a:defRPr sz="1800"/>
            </a:pPr>
            <a:r>
              <a:t>Keep sending customer feedback to Lena.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F5496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Aurora  -  Payroll UI Refresh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